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3716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2"/>
                </a:solidFill>
                <a:latin typeface="Segoe UI"/>
              </a:rPr>
              <a:t>MATEMATIČKI FAKULTET, MAŠINSKO UČENJE, 2025/26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10881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0E1216"/>
                </a:solidFill>
                <a:latin typeface="Segoe UI"/>
              </a:rPr>
              <a:t>Od teksta do</a:t>
            </a:r>
          </a:p>
          <a:p>
            <a:pPr algn="l">
              <a:lnSpc>
                <a:spcPct val="95000"/>
              </a:lnSpc>
            </a:pPr>
            <a:r>
              <a:rPr sz="5400" b="1">
                <a:solidFill>
                  <a:srgbClr val="0E1216"/>
                </a:solidFill>
                <a:latin typeface="Segoe UI"/>
              </a:rPr>
              <a:t>klasifikatora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C6672"/>
                </a:solidFill>
                <a:latin typeface="Georgia"/>
              </a:rPr>
              <a:t>Poredimo devet algoritama za prepoznavanje lažnih vesti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5C6672"/>
                </a:solidFill>
                <a:latin typeface="Georgia"/>
              </a:rPr>
              <a:t>i gledamo koliko koji stvarno vredi.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120640"/>
            <a:ext cx="10881360" cy="12700"/>
          </a:xfrm>
          <a:prstGeom prst="rect">
            <a:avLst/>
          </a:prstGeom>
          <a:solidFill>
            <a:srgbClr val="B9C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C6672"/>
                </a:solidFill>
                <a:latin typeface="Consolas"/>
              </a:rPr>
              <a:t>tema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5C6672"/>
                </a:solidFill>
                <a:latin typeface="Consolas"/>
              </a:rPr>
              <a:t>Fake News and Misinformation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534924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5C6672"/>
                </a:solidFill>
                <a:latin typeface="Consolas"/>
              </a:rPr>
              <a:t>autori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5C6672"/>
                </a:solidFill>
                <a:latin typeface="Consolas"/>
              </a:rPr>
              <a:t>Bogdan Tomić 1040/2025, David Aksović 1048/2025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ZADATAK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Binarna klasifikacija novinskih članaka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C6672"/>
                </a:solidFill>
                <a:latin typeface="Georgia"/>
              </a:rPr>
              <a:t>Za dati tekst članka treba odrediti da li je lažan. Skup smo preuzeli sa Kaggle-a.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C6672"/>
                </a:solidFill>
                <a:latin typeface="Georgia"/>
              </a:rPr>
              <a:t>Sastoji se od dva fajla koja spajamo i promešamo sa fiksnim semenom.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5146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66090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UKUPNO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1693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44 898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355848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članaka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25146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266090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LAŽNE, KLASA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91693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23 481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55848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sa političkih blogova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25146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66090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PRAVE, KLASA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91693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21 417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3355848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sa Reuters servisa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2514600"/>
            <a:ext cx="26060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66090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KORISTI 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291693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3355848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sadržaj članka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38912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Klase su skoro izjednačene, 52.3 % prema 47.7 %, pa tačnost ima smisla kao mera.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Nedostajućih vrednosti nema. Ipak, 631 članak ima prazno polje text, a 11 392 članka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imaju isti tekst kao neki drugi. Time se bavimo u obradi.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OBRADA PODATAKA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Jedan izvor, dve reprezentacije</a:t>
            </a:r>
          </a:p>
        </p:txBody>
      </p:sp>
      <p:pic>
        <p:nvPicPr>
          <p:cNvPr id="6" name="Picture 5" descr="d_cevov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83080"/>
            <a:ext cx="10881360" cy="32474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Tekst čistimo pre grananja, pa svi algoritmi rade nad istim sadržajem.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Razlikuje se samo kako je taj sadržaj pretvoren u brojeve.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OBRADA PODATAKA, PRVI KORAK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Čišćenje teksta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600200"/>
          <a:ext cx="6766559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29968"/>
                <a:gridCol w="2706624"/>
                <a:gridCol w="1082649"/>
                <a:gridCol w="947318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Šta se uklanja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Primer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pre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posle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Ime agencije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Reuters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21 700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18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Uvod izveštaja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WASHINGTON (Reuters) -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21 089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Šablon platforme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featured image via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8 161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Dani i meseci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on Wednesday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7 388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15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URL-ovi i oznake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http:// i @nalog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3 303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0" y="1600200"/>
            <a:ext cx="3749039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0" y="1746504"/>
            <a:ext cx="3383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PRAZNI ČLANCI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0" y="2002536"/>
            <a:ext cx="3383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−820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44144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819 od 820 su lažne vesti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971800"/>
            <a:ext cx="3749039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3118104"/>
            <a:ext cx="338327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KONAČNA VELIČINA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374136"/>
            <a:ext cx="3383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44 078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381304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22 662 lažnih, 21 416 pravih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023360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Reči stila kao you, just, like i so ostavljamo. One su odlika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senzacionalističkog pisanja pa modelu koriste.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OBRADA PODATAKA, DRUGI KORAK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Normalizacija za klasične modele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C6672"/>
                </a:solidFill>
                <a:latin typeface="Georgia"/>
              </a:rPr>
              <a:t>Klasični algoritmi gledaju svaku reč zasebno. Zato tekst svodimo na osnovne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C6672"/>
                </a:solidFill>
                <a:latin typeface="Georgia"/>
              </a:rPr>
              <a:t>oblike, da bi running, runs i ran postali isto obeležje.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432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7432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E1216"/>
                </a:solidFill>
                <a:latin typeface="Georgia"/>
              </a:rPr>
              <a:t>Uklanjamo sve osim slova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461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324612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E1216"/>
                </a:solidFill>
                <a:latin typeface="Georgia"/>
              </a:rPr>
              <a:t>Prevodimo u mala slova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749039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7490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E1216"/>
                </a:solidFill>
                <a:latin typeface="Georgia"/>
              </a:rPr>
              <a:t>Izbacujemo stop-reči, NLTK lista za engleski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2519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425196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E1216"/>
                </a:solidFill>
                <a:latin typeface="Georgia"/>
              </a:rPr>
              <a:t>Svodimo reči na koren, Porter stemmer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600200"/>
            <a:ext cx="50292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755648"/>
            <a:ext cx="4663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PRE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01168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0E1216"/>
                </a:solidFill>
                <a:latin typeface="Consolas"/>
              </a:rPr>
              <a:t>The head of a conservative Republican faction in the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E1216"/>
                </a:solidFill>
                <a:latin typeface="Consolas"/>
              </a:rPr>
              <a:t>U.S. Congress, who voted this month for a huge…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01752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E5F1EE"/>
          </a:solidFill>
          <a:ln w="12700">
            <a:solidFill>
              <a:srgbClr val="008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172968"/>
            <a:ext cx="4663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POSLE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4290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0E1216"/>
                </a:solidFill>
                <a:latin typeface="Consolas"/>
              </a:rPr>
              <a:t>head conserv republican faction u congress vote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E1216"/>
                </a:solidFill>
                <a:latin typeface="Consolas"/>
              </a:rPr>
              <a:t>month huge…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Stemming nije lematizacija. Reč conserv ne postoji u engleskom, ali je isti koren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za celu porodicu izvedenica. Za klasifikaciju je to dovoljno.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OBRADA PODATAKA, TREĆI KORAK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Dve reprezentacije istog teksta</a:t>
            </a:r>
          </a:p>
        </p:txBody>
      </p:sp>
      <p:pic>
        <p:nvPicPr>
          <p:cNvPr id="6" name="Picture 5" descr="d_reprezentaci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91640"/>
            <a:ext cx="10881360" cy="36376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778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TF-IDF je vreća reči. Dve rečenice sa istim rečima u obrnutom poretku daju isti vektor.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Niz celih brojeva čuva poredak, a bez toga konvolucija i LSTM nemaju šta da uče.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OBRADA PODATAKA, ČETVRTI KORAK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Podela na skupove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C6672"/>
                </a:solidFill>
                <a:latin typeface="Georgia"/>
              </a:rPr>
              <a:t>Podela je stratifikovana, pa obe klase zadržavaju isti odnos u svakom delu.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C6672"/>
                </a:solidFill>
                <a:latin typeface="Georgia"/>
              </a:rPr>
              <a:t>Test skup se ne dodiruje ni tokom treniranja ni pri ranom zaustavljanju.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514600"/>
            <a:ext cx="35204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660904"/>
            <a:ext cx="3154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TRENING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1693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≈ 75 %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35584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Podešavanje parametara modela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514600"/>
            <a:ext cx="35204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660904"/>
            <a:ext cx="3154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VALIDACIJA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91693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10 %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35584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Odvaja se iz treninga, za rano zaustavljanje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514600"/>
            <a:ext cx="35204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2660904"/>
            <a:ext cx="3154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916936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11 020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335584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Nezavisna ocena, koristi se jednom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8912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Vektorizator učimo samo na trening skupu, a na test primenjujemo već naučen rečnik.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Da radimo obrnuto, test podaci bi uticali na izbor obeležja.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949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Klasični modeli koriste podelu 80/20 nad stemovanim tekstom, test 8 816. Mreže i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transformeri koriste 75/25 nad očišćenim tekstom, test 11 020.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KLASIČNI ALGORITMI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Četiri pristupa nad TF-IDF vektorima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260604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4708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1216"/>
                </a:solidFill>
                <a:latin typeface="Segoe UI"/>
              </a:rPr>
              <a:t>KNN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2240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C6672"/>
                </a:solidFill>
                <a:latin typeface="Georgia"/>
              </a:rPr>
              <a:t>Ne uči ništa unapred. Za novi članak nađe k najbližih iz trening skupa pa glasa većinom.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70332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k = 5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nema treninga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slab u visokoj dimenziji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691640"/>
            <a:ext cx="260604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84708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1216"/>
                </a:solidFill>
                <a:latin typeface="Segoe UI"/>
              </a:rPr>
              <a:t>Logistička regresija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286000"/>
            <a:ext cx="2240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C6672"/>
                </a:solidFill>
                <a:latin typeface="Georgia"/>
              </a:rPr>
              <a:t>Uči težinu za svako obeležje i propušta zbir kroz sigmoidnu funkciju.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370332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solver lbfgs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max_iter 1000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težine se mogu čitati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691640"/>
            <a:ext cx="260604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84708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1216"/>
                </a:solidFill>
                <a:latin typeface="Segoe UI"/>
              </a:rPr>
              <a:t>Linearni SVM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286000"/>
            <a:ext cx="2240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C6672"/>
                </a:solidFill>
                <a:latin typeface="Georgia"/>
              </a:rPr>
              <a:t>Traži hiperravan koja razdvaja klase sa najširom mogućom marginom.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370332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C = 1.0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ne daje verovatnoće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87968" y="1691640"/>
            <a:ext cx="260604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84708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1216"/>
                </a:solidFill>
                <a:latin typeface="Segoe UI"/>
              </a:rPr>
              <a:t>Kernelizovani SVM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286000"/>
            <a:ext cx="2240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C6672"/>
                </a:solidFill>
                <a:latin typeface="Georgia"/>
              </a:rPr>
              <a:t>RBF kernel preslikava podatke u veću dimenziju, gde granica sme da bude zakrivljena.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370332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kernel rbf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trening 8 000 primera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8B95A1"/>
                </a:solidFill>
                <a:latin typeface="Consolas"/>
              </a:rPr>
              <a:t>kvadratna složenost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8463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Merimo i DummyClassifier, koji uvek predviđa većinsku klasu. On daje donju granicu.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Model koji je ne nadmaši nije naučio ništa.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NEURONSKE MREŽE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Konvolutivna mreža</a:t>
            </a:r>
          </a:p>
        </p:txBody>
      </p:sp>
      <p:pic>
        <p:nvPicPr>
          <p:cNvPr id="6" name="Picture 5" descr="d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45920"/>
            <a:ext cx="464770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3492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Ukupno 474 369 parametara. Na sloj ugnežđavanja otpada 81 %.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78308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Kako radi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67128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Konvolucija klizi prozorom od pet uzastopnih reči kroz ceo članak i za svaku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poziciju računa 128 odziva. Tako uči lokalne obrasce, na primer frazu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„read more here”.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703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Globalno sažimanje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087368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Za svaki filter uzima najjaču aktivaciju iz celog teksta. Bitno je samo da li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se fraza pojavila, a ne gde. Dužina članka zato ne smeta, a prozori se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računaju nezavisno pa je CNN brz.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NEURONSKE MREŽE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Bidirekciona LSTM mreža</a:t>
            </a:r>
          </a:p>
        </p:txBody>
      </p:sp>
      <p:pic>
        <p:nvPicPr>
          <p:cNvPr id="6" name="Picture 5" descr="d_bi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45920"/>
            <a:ext cx="464770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3492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Završna stanja oba smera spajaju se u vektor od 128 brojeva. Ukupno 482 945 parametara.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78308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Kako radi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67128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LSTM čita reč po reč i održava skriveno stanje koje prenosi kroz ceo niz.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Kapije zaboravljanja i upisa određuju šta se od ranijeg konteksta zadržava.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703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Bidirekcionalnost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087368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Isti niz se čita i unazad, pa reč na poziciji 150 vidi i ono pre i ono posle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sebe. Plaća se brzinom. Koraci moraju da idu redom pa se ne mogu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paralelizovati. Epoha je trajala oko 7 minuta, kod CNN-a 1,5.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NEURONSKE MREŽE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Hibrid 1D CNN i LSTM</a:t>
            </a:r>
          </a:p>
        </p:txBody>
      </p:sp>
      <p:pic>
        <p:nvPicPr>
          <p:cNvPr id="6" name="Picture 5" descr="d_hib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45920"/>
            <a:ext cx="464770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3492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Ukupno 515 521 parametara. Sažimanje skraćuje niz četiri puta.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78308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Zašto ovaj spoj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67128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Konvolucija dobro nalazi lokalne fraze, ali globalno sažimanje baci podatak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o njihovom redosledu. LSTM dobro barata redosledom, ali mu je 300 koraka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sporo i teško.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703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Posledica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087368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Hibrid daje LSTM-u već izdvojene fraze umesto sirovih reči, i to četiri puta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kraći niz. Zato je brži od čistog BiLSTM-a, iako je složeniji.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TRANSFORMERI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Dva načina korišćenja pretreniranog modela</a:t>
            </a:r>
          </a:p>
        </p:txBody>
      </p:sp>
      <p:pic>
        <p:nvPicPr>
          <p:cNvPr id="6" name="Picture 5" descr="d_transforme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947" y="1600200"/>
            <a:ext cx="62738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321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Ista vrsta arhitekture, a ishod potpuno različit. Levo model meri opštu sličnost teksta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i ne zna ništa o našem zadatku. Desno se cela mreža podešava da razlikuje lažne vesti.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PROTOKOL TRENIRANJA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Kako su modeli učeni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Keras mreže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965960"/>
          <a:ext cx="5029199" cy="26334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57437"/>
                <a:gridCol w="2671762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Postavka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Vrednost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Optimizator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Adam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Gubitak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binary_crossentropy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Veličina serije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64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Maksimalno epoha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Validacioni udeo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0.10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Rano zaustavljanje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val_loss, patience 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Vraćanje težina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restore_best_weights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Regularizacija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Dropout 0.5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16002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DistilBERT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965960"/>
          <a:ext cx="5029199" cy="20482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57437"/>
                <a:gridCol w="2671762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Postavka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Vrednost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Epoha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Stopa učenja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2e-5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Veličina serije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32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Maks. dužina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256 tokena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Preciznost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fp16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Hardver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Colab T4 GPU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47091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Izmerili smo 82.6 sekundi po koraku na procesoru, što bi za dotreniranje značilo 47 sati.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Na T4 kartici traje oko 20 minuta. Rano zaustavljanje prekida trening kad validacioni gubitak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ne padne dve epohe zaredom i vrati težine na najbolju epohu, pa broj epoha ne biramo ručno.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REZULTATI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Ocena na test skupu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508760"/>
          <a:ext cx="10881358" cy="450799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311482"/>
                <a:gridCol w="1334506"/>
                <a:gridCol w="1437160"/>
                <a:gridCol w="1231852"/>
                <a:gridCol w="1231852"/>
                <a:gridCol w="1334506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B95A1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B95A1"/>
                          </a:solidFill>
                          <a:latin typeface="Segoe UI"/>
                        </a:rPr>
                        <a:t>Tačnost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B95A1"/>
                          </a:solidFill>
                          <a:latin typeface="Segoe UI"/>
                        </a:rPr>
                        <a:t>Preciznost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B95A1"/>
                          </a:solidFill>
                          <a:latin typeface="Segoe UI"/>
                        </a:rPr>
                        <a:t>Odziv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B95A1"/>
                          </a:solidFill>
                          <a:latin typeface="Segoe UI"/>
                        </a:rPr>
                        <a:t>F1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B95A1"/>
                          </a:solidFill>
                          <a:latin typeface="Segoe UI"/>
                        </a:rPr>
                        <a:t>ROC-AUC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5C6672"/>
                          </a:solidFill>
                          <a:latin typeface="Consolas"/>
                        </a:rPr>
                        <a:t>Transformeri i mreže, test 11 020</a:t>
                      </a:r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E1216"/>
                          </a:solidFill>
                          <a:latin typeface="Consolas"/>
                        </a:rPr>
                        <a:t>**DistilBERT (dotreniran)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0E1216"/>
                          </a:solidFill>
                          <a:latin typeface="Consolas"/>
                        </a:rPr>
                        <a:t>0.9976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0E1216"/>
                          </a:solidFill>
                          <a:latin typeface="Consolas"/>
                        </a:rPr>
                        <a:t>0.9982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0E1216"/>
                          </a:solidFill>
                          <a:latin typeface="Consolas"/>
                        </a:rPr>
                        <a:t>0.9972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0E1216"/>
                          </a:solidFill>
                          <a:latin typeface="Consolas"/>
                        </a:rPr>
                        <a:t>0.9977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0E1216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CNN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0.9928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0.9942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0.9919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0.9930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0.9996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CNN + LSTM (hibrid)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0.9926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0.9907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0.9951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0.9929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0.9993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BiLSTM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0.9851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0.9826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0.9885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0.9856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0.9978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TF-IDF + LogReg (bigrami)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0.9835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0.9848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0.9831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0.9839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0.9981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TF-IDF + LogReg (osnovni)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0.9806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0.9826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0.9795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0.9811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0.9976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Embedinzi + LinearSVC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0.9486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0.9536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0.9462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0.9499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-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Embedinzi + LogReg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0.9378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0.9475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0.9306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0.9390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0.9844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5C6672"/>
                          </a:solidFill>
                          <a:latin typeface="Consolas"/>
                        </a:rPr>
                        <a:t>Klasični modeli, test 8 816, stemovan tekst</a:t>
                      </a:r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Linearni SVM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0.9846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0.9841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0.9859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0.9850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-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Logistička regresija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0.9771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0.9803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0.9751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0.9777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-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Kernelizovani SVM (RBF)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0.9707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0.9764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0.9665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0.9714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-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KNN (k = 5)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0.8723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0.9232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0.8198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0.8684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-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5C6672"/>
                          </a:solidFill>
                          <a:latin typeface="Consolas"/>
                        </a:rPr>
                        <a:t>Referenca</a:t>
                      </a:r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54864" marR="54864" marT="18288" marB="18288">
                    <a:solidFill>
                      <a:srgbClr val="E5F1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Dummy, većinska klasa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0.5142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0.5142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0.6791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0E1216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61264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Preciznost i odziv su računati za klasu lažna vest. Modeli koji ne daju verovatnoće nemaju ROC-AUC.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REZULTATI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Koliko je koji model dobar</a:t>
            </a:r>
          </a:p>
        </p:txBody>
      </p:sp>
      <p:pic>
        <p:nvPicPr>
          <p:cNvPr id="6" name="Picture 5" descr="g_rezult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10241280" cy="47735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9893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Skala počinje od nule. Zvezdica označava modele ocenjene na drugoj podeli, test 8 816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nad stemovanim tekstom. Njih sa ostalima treba porediti oprezno.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NALAZ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Zašto su embedinzi izgubili od TF-IDF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C6672"/>
                </a:solidFill>
                <a:latin typeface="Georgia"/>
              </a:rPr>
              <a:t>Moderniji prikaz je dao lošiji rezultat, 0.9378 naspram 0.9835. Razlog su dve stvari.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6888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615184"/>
            <a:ext cx="4983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PRVI RAZLOG, ODSECANJE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7121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49.6 %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310128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Toliko teksta model uopšte vidi. Prima najviše 256 tokena,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a članci imaju prosečno 514. Ostatak se odbacuje pre nego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što vektor nastane. TF-IDF čita ceo tekst.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468880"/>
            <a:ext cx="525780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C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615184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B95A1"/>
                </a:solidFill>
                <a:latin typeface="Segoe UI"/>
              </a:rPr>
              <a:t>DRUGI RAZLOG, POGREŠNA SLIČNOST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87121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1216"/>
                </a:solidFill>
                <a:latin typeface="Segoe UI"/>
              </a:rPr>
              <a:t>384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310128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Na toliko brojeva se sažima ceo članak. Model je učen da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prepozna da li su dva teksta o istoj temi. Lažna i prava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C6672"/>
                </a:solidFill>
                <a:latin typeface="Georgia"/>
              </a:rPr>
              <a:t>vest o Trampu jesu o istoj temi, pa ih smešta blizu.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70916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TF-IDF čuva svaku reč posebno, a signal ovde jesu baš pojedinačne reči i stil, kao via,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read more, said i told. Sažimanje na 384 dimenzije to izbriše.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E1216"/>
                </a:solidFill>
                <a:latin typeface="Georgia"/>
              </a:rPr>
              <a:t>Složeniji prikaz dakle nije sam po sebi bolji, mora da odgovara zadatku.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PROVERA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Preprilagođavanje i duplikati</a:t>
            </a:r>
          </a:p>
        </p:txBody>
      </p:sp>
      <p:pic>
        <p:nvPicPr>
          <p:cNvPr id="6" name="Picture 5" descr="g_k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45920"/>
            <a:ext cx="5852160" cy="30093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48463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Validacioni gubitak je najniži u trećoj epohi, 0.0239, pa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počinje da raste. Rano zaustavljanje je preseklo trening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u petoj epohi i vratilo težine iz treće.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916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Preprilagođavanja nema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57400"/>
            <a:ext cx="4663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Razmak između treninga i testa je ispod jednog procentnog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poena. Petostruka unakrsna validacija daje standardnu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devijaciju 0.0011, a kriva učenja pokazuje da se razmak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smanjuje kako raste količina podataka.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4747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Ali duplikati postoje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84048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11 392 članka imaju isti tekst kao neki drugi, pa 18.9 %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C6672"/>
                </a:solidFill>
                <a:latin typeface="Georgia"/>
              </a:rPr>
              <a:t>test članaka ima identičnu kopiju u trening skupu.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858000" y="4617720"/>
          <a:ext cx="4663440" cy="82295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27200"/>
                <a:gridCol w="1727200"/>
                <a:gridCol w="1209040"/>
              </a:tblGrid>
              <a:tr h="274319"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sa duplikatima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8B95A1"/>
                          </a:solidFill>
                          <a:latin typeface="Segoe UI"/>
                        </a:rPr>
                        <a:t>bez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LinearSVC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0.9927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0.9870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  <a:tr h="27432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LogReg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0.9835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E1216"/>
                          </a:solidFill>
                          <a:latin typeface="Consolas"/>
                        </a:rPr>
                        <a:t>0.9787</a:t>
                      </a:r>
                    </a:p>
                  </a:txBody>
                  <a:tcPr marL="54864" marR="54864" marT="18288" marB="18288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Rezultati su naduvani oko 0.5 procentnog poena. To pogađa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sve modele podjednako, pa se poredak ne menja.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21208"/>
            <a:ext cx="256032" cy="27940"/>
          </a:xfrm>
          <a:prstGeom prst="rect">
            <a:avLst/>
          </a:prstGeom>
          <a:solidFill>
            <a:srgbClr val="0E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6" y="45720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C6672"/>
                </a:solidFill>
                <a:latin typeface="Segoe UI"/>
              </a:rPr>
              <a:t>ZAKLJUČAK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8046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0E1216"/>
                </a:solidFill>
                <a:latin typeface="Segoe UI"/>
              </a:rPr>
              <a:t>Šta se isplatilo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157276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Dotreniran DistilBERT je najbolji, tačnost 0.9976 i ROC-AUC 0.9999.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18745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C6672"/>
                </a:solidFill>
                <a:latin typeface="Georgia"/>
              </a:rPr>
              <a:t>Pogrešio je na 26 od 11 020 članaka. Prednost mu daje to što se ceo model podešava na naš zadatak, a ne sama arhitektura.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414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414016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CNN i hibrid su praktično izjednačeni, 0.9928 i 0.9926.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271576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C6672"/>
                </a:solidFill>
                <a:latin typeface="Georgia"/>
              </a:rPr>
              <a:t>Dodavanje LSTM sloja iza konvolucije nije popravilo rezultat. Pokazalo je da sažimanje čini rekurentni sloj dovoljno brzim.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8269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3255264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Linearni SVM daje 0.9846 za nekoliko sekundi treniranja.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355701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C6672"/>
                </a:solidFill>
                <a:latin typeface="Georgia"/>
              </a:rPr>
              <a:t>Zaostaje 1,3 poena za transformerom, a trening traje nekoliko hiljada puta kraće. Za primenu bi to bio razuman izbor.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123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096512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Kernelizovani SVM je slabiji od linearnog, 0.9707 naspram 0.9723.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439826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C6672"/>
                </a:solidFill>
                <a:latin typeface="Georgia"/>
              </a:rPr>
              <a:t>U prostoru od 5 000 dimenzija podaci su već skoro linearno razdvojivi, pa RBF kernel nema šta da dobije.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95A1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493776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1216"/>
                </a:solidFill>
                <a:latin typeface="Segoe UI"/>
              </a:rPr>
              <a:t>Obrada podataka je više odredila kvalitet nego izbor algoritma.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523951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C6672"/>
                </a:solidFill>
                <a:latin typeface="Georgia"/>
              </a:rPr>
              <a:t>Uklanjanje tragova izvora, praznih članaka i duplikata pomera rezultate više nego prelazak na duboku mrežu.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0350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Skup podataka: Clément Bisaillon, Fake and Real News Dataset, Kaggle, CC BY-NC-SA 4.0.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1"/>
                </a:solidFill>
                <a:latin typeface="Consolas"/>
              </a:rPr>
              <a:t>Kod: program.ipynb i colab_transformeri.ipynb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